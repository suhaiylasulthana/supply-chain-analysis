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C97B84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31F2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97B8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4A24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B5B95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Skincare</c:v>
                  </c:pt>
                  <c:pt idx="1">
                    <c:v>Haircare</c:v>
                  </c:pt>
                  <c:pt idx="2">
                    <c:v>Cosmetics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241628</c:v>
                </c:pt>
                <c:pt idx="1">
                  <c:v>174455</c:v>
                </c:pt>
                <c:pt idx="2">
                  <c:v>161521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31F2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5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EAF1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5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Defect rate</c:v>
                </c:pt>
              </c:strCache>
            </c:strRef>
          </c:tx>
          <c:spPr>
            <a:solidFill>
              <a:srgbClr val="B85C7C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31F2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Supplier 5</c:v>
                  </c:pt>
                  <c:pt idx="1">
                    <c:v>Supplier 3</c:v>
                  </c:pt>
                  <c:pt idx="2">
                    <c:v>Supplier 2</c:v>
                  </c:pt>
                  <c:pt idx="3">
                    <c:v>Supplier 4</c:v>
                  </c:pt>
                  <c:pt idx="4">
                    <c:v>Supplier 1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2.67</c:v>
                </c:pt>
                <c:pt idx="1">
                  <c:v>2.47</c:v>
                </c:pt>
                <c:pt idx="2">
                  <c:v>2.36</c:v>
                </c:pt>
                <c:pt idx="3">
                  <c:v>2.34</c:v>
                </c:pt>
                <c:pt idx="4">
                  <c:v>1.8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231F2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5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DEAF1"/>
              </a:solidFill>
              <a:prstDash val="solid"/>
              <a:round/>
            </a:ln>
          </c:spPr>
        </c:majorGridlines>
        <c:numFmt formatCode="0.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5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A5A1E"/>
              </a:solidFill>
              <a:effectLst/>
            </c:spPr>
          </c:dPt>
          <c:dPt>
            <c:idx val="1"/>
            <c:bubble3D val="0"/>
            <c:spPr>
              <a:solidFill>
                <a:srgbClr val="6B9080"/>
              </a:solidFill>
              <a:effectLst/>
            </c:spPr>
          </c:dPt>
          <c:dPt>
            <c:idx val="2"/>
            <c:bubble3D val="0"/>
            <c:spPr>
              <a:solidFill>
                <a:srgbClr val="C9A227"/>
              </a:solidFill>
              <a:effectLst/>
            </c:spPr>
          </c:dPt>
          <c:dLbls>
            <c:dLbl>
              <c:idx val="0"/>
              <c:numFmt formatCode="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Pending</c:v>
                </c:pt>
                <c:pt idx="1">
                  <c:v>Fail</c:v>
                </c:pt>
                <c:pt idx="2">
                  <c:v>Pass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41</c:v>
                </c:pt>
                <c:pt idx="1">
                  <c:v>36</c:v>
                </c:pt>
                <c:pt idx="2">
                  <c:v>23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shipping cost ($)</c:v>
                </c:pt>
              </c:strCache>
            </c:strRef>
          </c:tx>
          <c:spPr>
            <a:solidFill>
              <a:srgbClr val="8C7AA8"/>
            </a:solidFill>
            <a:effectLst/>
          </c:spPr>
          <c:invertIfNegative val="0"/>
          <c:dLbls>
            <c:numFmt formatCode="$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31F2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Carrier A</c:v>
                  </c:pt>
                  <c:pt idx="1">
                    <c:v>Carrier B</c:v>
                  </c:pt>
                  <c:pt idx="2">
                    <c:v>Carrier 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5.55</c:v>
                </c:pt>
                <c:pt idx="1">
                  <c:v>5.51</c:v>
                </c:pt>
                <c:pt idx="2">
                  <c:v>5.6</c:v>
                </c:pt>
              </c:numCache>
            </c:numRef>
          </c:val>
        </c:ser>
        <c:dLbls>
          <c:numFmt formatCode="$0.00" sourceLinked="0"/>
          <c:txPr>
            <a:bodyPr/>
            <a:lstStyle/>
            <a:p>
              <a:pPr>
                <a:defRPr b="0" i="0" strike="noStrike" sz="1100" u="none">
                  <a:solidFill>
                    <a:srgbClr val="231F2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5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EAF1"/>
              </a:solidFill>
              <a:prstDash val="solid"/>
              <a:round/>
            </a:ln>
          </c:spPr>
        </c:majorGridlines>
        <c:numFmt formatCode="$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5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6B5B95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31F2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Mumbai</c:v>
                  </c:pt>
                  <c:pt idx="1">
                    <c:v>Kolkata</c:v>
                  </c:pt>
                  <c:pt idx="2">
                    <c:v>Chennai</c:v>
                  </c:pt>
                  <c:pt idx="3">
                    <c:v>Bangalore</c:v>
                  </c:pt>
                  <c:pt idx="4">
                    <c:v>Delhi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137755</c:v>
                </c:pt>
                <c:pt idx="1">
                  <c:v>137078</c:v>
                </c:pt>
                <c:pt idx="2">
                  <c:v>119143</c:v>
                </c:pt>
                <c:pt idx="3">
                  <c:v>102602</c:v>
                </c:pt>
                <c:pt idx="4">
                  <c:v>81028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31F2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5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EAF1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5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20240"/>
            <a:ext cx="9144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REPORT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703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9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Portfolio Analysis — Skincare, Haircare &amp; Cosmetics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2296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100-SKU Supply Chain Diagnostic  ·  Revenue, Cost, Quality &amp; Logistics Analysis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6126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using Power BI–style diagnostic methodology  |  CDACL-003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analysis covers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84048" cy="38404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57276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176272"/>
            <a:ext cx="384048" cy="384048"/>
          </a:xfrm>
          <a:prstGeom prst="ellipse">
            <a:avLst/>
          </a:prstGeom>
          <a:solidFill>
            <a:srgbClr val="B85C7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762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194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&amp; Sales Performance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2798064"/>
            <a:ext cx="384048" cy="38404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7980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8163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Structure &amp; Unit Economics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3419856"/>
            <a:ext cx="384048" cy="384048"/>
          </a:xfrm>
          <a:prstGeom prst="ellipse">
            <a:avLst/>
          </a:prstGeom>
          <a:solidFill>
            <a:srgbClr val="B85C7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4198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438144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Quality &amp; Inspection Outcomes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4041648"/>
            <a:ext cx="384048" cy="38404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041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4059936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Logistics: Carriers &amp; Transportation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" y="4663440"/>
            <a:ext cx="384048" cy="384048"/>
          </a:xfrm>
          <a:prstGeom prst="ellipse">
            <a:avLst/>
          </a:prstGeom>
          <a:solidFill>
            <a:srgbClr val="B85C7C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663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46817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Performance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0080" y="5285232"/>
            <a:ext cx="384048" cy="38404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2852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5303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&amp; Implementation Roadmap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Portfolio-level performance across 100 SKUs, 5 suppliers, 3 carriers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4F2F6"/>
          </a:solidFill>
          <a:ln w="12700">
            <a:solidFill>
              <a:srgbClr val="E7E4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7373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$577,605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30428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6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91840" y="146304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4F2F6"/>
          </a:solidFill>
          <a:ln w="12700">
            <a:solidFill>
              <a:srgbClr val="E7E4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7373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85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$519,399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291840" y="230428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6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PROFIT*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126480" y="146304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4F2F6"/>
          </a:solidFill>
          <a:ln w="12700">
            <a:solidFill>
              <a:srgbClr val="E7E4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7373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2.28%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126480" y="230428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6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DEFECT RATE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961120" y="146304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4F2F6"/>
          </a:solidFill>
          <a:ln w="12700">
            <a:solidFill>
              <a:srgbClr val="E7E4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0" y="17373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days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961120" y="230428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6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LEAD TIME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2880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*Profit = Revenue − Mfg. costs − Shipping costs − Total costs. See slide 5 for a unit-economics data caveat affecting this figure.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3383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3794760"/>
            <a:ext cx="111556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Skincare drives 41.8% of revenue ($241,628) — the dominant, most concentration-risk-exposed line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 of 100 SKUs (44%) are priced below their own manufacturing cost — the top finding of this analysis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5 posts the highest defect rate at 2.67%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 of inspected units failed quality inspection outright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by Product Type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Skincare leads, but revenue concentration is a risk worth monitoring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371600"/>
          <a:ext cx="65836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589520" y="1737360"/>
            <a:ext cx="40233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3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Skincare: $241,628 (41.8%)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3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Haircare: $174,455 (30.2%)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3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Cosmetics: $161,521 (28%)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Structure &amp; Unit Economics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consequential finding in this analysis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1143000"/>
          </a:xfrm>
          <a:prstGeom prst="roundRect">
            <a:avLst>
              <a:gd name="adj" fmla="val 4800"/>
            </a:avLst>
          </a:prstGeom>
          <a:solidFill>
            <a:srgbClr val="FBF1E6"/>
          </a:solidFill>
          <a:ln w="12700">
            <a:solidFill>
              <a:srgbClr val="E8C8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Finding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755648"/>
            <a:ext cx="1088136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5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 of 100 SKUs (44%) are priced below their recorded manufacturing cost per unit — the most extreme case (SKU23) is priced at $4 against a $99 manufacturing cost. This should be validated against source costing systems before acting on portfolio-level profit figures.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highest-cost SKUs to manufacture: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63240"/>
          <a:ext cx="56692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64592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SKU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7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7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Mfg. Cost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7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7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SKU7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cosmetics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SKU23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cosmetics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SKU13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skincare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SKU83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haircare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SKU15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skincare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92240" y="3063240"/>
            <a:ext cx="52120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3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vs. manufacturing cost correlation: -0.184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3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vs. revenue correlation: 0.038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3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are far weaker than expected for cost-reflective pricing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 Rate by Supplier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quality is one of the most actionable levers in this dataset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371600"/>
          <a:ext cx="69494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772400" y="173736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b="1" dirty="0">
                <a:solidFill>
                  <a:srgbClr val="B85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Worst: Supplier 5 at 2.67%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3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Best: Supplier 1 at 1.8%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3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Nearly a full percentage point separates best and worst — enough to matter at scale.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Inspection Outcomes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 of inspected units failed outright — enough to warrant root-cause review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51206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035040" y="1554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Inspection outcomes by product type: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965960"/>
          <a:ext cx="54864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280160"/>
                <a:gridCol w="1280160"/>
                <a:gridCol w="1280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7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Fail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7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7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Pending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7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Cosmetics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38.5%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23.1%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38.5%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Haircare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38.2%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17.6%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44.1%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Skincare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32.5%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27.5%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035040" y="356616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 units average a 2.57% defect rate — the highest of any inspection outcome. Haircare shows both the highest fail rate and lowest pass rate of the three categories.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Shipping Cost vs. Revenue by Carrier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Carrier B: cheapest and highest-revenue — an efficient combination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371600"/>
          <a:ext cx="65836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589520" y="1737360"/>
            <a:ext cx="40233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23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Carrier A: $142,630 total revenue, $5.55 avg. cost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23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Carrier B: $250,095 total revenue, $5.51 avg. cost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23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Carrier C: $184,880 total revenue, $5.60 avg. cost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by Supplier Location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Mumbai and Kolkata lead; Delhi lags on both revenue and profit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371600"/>
          <a:ext cx="108813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prioritized, implementable actions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B85C7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371600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and resolve the unit-economics data anomaly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73736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 SKUs are priced below manufacturing cost. Reconcile against source costing systems before using portfolio profit figures for planning.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24328"/>
            <a:ext cx="457200" cy="457200"/>
          </a:xfrm>
          <a:prstGeom prst="ellipse">
            <a:avLst/>
          </a:prstGeom>
          <a:solidFill>
            <a:srgbClr val="D4A24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24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57860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and re-negotiate with Supplier 5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2944368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defect rate in the network (2.67%). Formal quality audit this quarter, corrective plan or phased volume reduction if unresolved in 90 days.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831336"/>
            <a:ext cx="457200" cy="457200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8313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3785616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 the 36% inspection fail rate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4151376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enough to suggest a systemic issue. Targeted root-cause review, starting with haircare — the weakest-performing category.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038344"/>
            <a:ext cx="457200" cy="457200"/>
          </a:xfrm>
          <a:prstGeom prst="ellipse">
            <a:avLst/>
          </a:prstGeom>
          <a:solidFill>
            <a:srgbClr val="B85C7C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0383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4992624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haircare shipments off Road transport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5358384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above-average defects with above-average stock-to-sales ratio. Pilot Air/Rail for top haircare SKUs.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Roadmap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Priority, timeframe, and ownership for each recommendation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4572000"/>
                <a:gridCol w="1737360"/>
                <a:gridCol w="1828800"/>
                <a:gridCol w="23774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7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7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Priority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7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Timeframe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7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73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Validate unit-economics data anomaly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85C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weeks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Finance / Data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Supplier quality audit &amp; corrective plan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quarter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Procurement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Root-cause review of inspection fail rate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weeks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Quality Assurance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Pilot alternate transport for haircare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quarter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Logistics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2026-08-04T08:40:01Z</dcterms:created>
  <dcterms:modified xsi:type="dcterms:W3CDTF">2026-08-04T08:40:01Z</dcterms:modified>
</cp:coreProperties>
</file>